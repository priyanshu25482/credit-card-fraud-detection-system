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Cases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ATM Withdrawal</c:v>
                  </c:pt>
                  <c:pt idx="1">
                    <c:v>Online</c:v>
                  </c:pt>
                  <c:pt idx="2">
                    <c:v>Bank Transfer</c:v>
                  </c:pt>
                  <c:pt idx="3">
                    <c:v>POS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4046</c:v>
                </c:pt>
                <c:pt idx="1">
                  <c:v>4031</c:v>
                </c:pt>
                <c:pt idx="2">
                  <c:v>3995</c:v>
                </c:pt>
                <c:pt idx="3">
                  <c:v>3995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Legit Cases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ATM Withdrawal</c:v>
                  </c:pt>
                  <c:pt idx="1">
                    <c:v>Online</c:v>
                  </c:pt>
                  <c:pt idx="2">
                    <c:v>Bank Transfer</c:v>
                  </c:pt>
                  <c:pt idx="3">
                    <c:v>POS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8407</c:v>
                </c:pt>
                <c:pt idx="1">
                  <c:v>8515</c:v>
                </c:pt>
                <c:pt idx="2">
                  <c:v>8457</c:v>
                </c:pt>
                <c:pt idx="3">
                  <c:v>8554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Fraud by Device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Tablet</c:v>
                </c:pt>
                <c:pt idx="1">
                  <c:v>Mobile</c:v>
                </c:pt>
                <c:pt idx="2">
                  <c:v>Laptop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5464</c:v>
                </c:pt>
                <c:pt idx="1">
                  <c:v>5305</c:v>
                </c:pt>
                <c:pt idx="2">
                  <c:v>5298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Cases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Tokyo</c:v>
                  </c:pt>
                  <c:pt idx="1">
                    <c:v>New York</c:v>
                  </c:pt>
                  <c:pt idx="2">
                    <c:v>Sydney</c:v>
                  </c:pt>
                  <c:pt idx="3">
                    <c:v>London</c:v>
                  </c:pt>
                  <c:pt idx="4">
                    <c:v>Mumbai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3315</c:v>
                </c:pt>
                <c:pt idx="1">
                  <c:v>3221</c:v>
                </c:pt>
                <c:pt idx="2">
                  <c:v>3194</c:v>
                </c:pt>
                <c:pt idx="3">
                  <c:v>3181</c:v>
                </c:pt>
                <c:pt idx="4">
                  <c:v>3156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Legit Cases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Tokyo</c:v>
                  </c:pt>
                  <c:pt idx="1">
                    <c:v>New York</c:v>
                  </c:pt>
                  <c:pt idx="2">
                    <c:v>Sydney</c:v>
                  </c:pt>
                  <c:pt idx="3">
                    <c:v>London</c:v>
                  </c:pt>
                  <c:pt idx="4">
                    <c:v>Mumbai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6751</c:v>
                </c:pt>
                <c:pt idx="1">
                  <c:v>6892</c:v>
                </c:pt>
                <c:pt idx="2">
                  <c:v>6779</c:v>
                </c:pt>
                <c:pt idx="3">
                  <c:v>6788</c:v>
                </c:pt>
                <c:pt idx="4">
                  <c:v>6723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Cases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Restaurants</c:v>
                  </c:pt>
                  <c:pt idx="1">
                    <c:v>Travel</c:v>
                  </c:pt>
                  <c:pt idx="2">
                    <c:v>Groceries</c:v>
                  </c:pt>
                  <c:pt idx="3">
                    <c:v>Clothing</c:v>
                  </c:pt>
                  <c:pt idx="4">
                    <c:v>Electronics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3255</c:v>
                </c:pt>
                <c:pt idx="1">
                  <c:v>3235</c:v>
                </c:pt>
                <c:pt idx="2">
                  <c:v>3217</c:v>
                </c:pt>
                <c:pt idx="3">
                  <c:v>3181</c:v>
                </c:pt>
                <c:pt idx="4">
                  <c:v>3179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Fraud by Card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Mastercard</c:v>
                </c:pt>
                <c:pt idx="1">
                  <c:v>Amex</c:v>
                </c:pt>
                <c:pt idx="2">
                  <c:v>Discover</c:v>
                </c:pt>
                <c:pt idx="3">
                  <c:v>Visa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4038</c:v>
                </c:pt>
                <c:pt idx="1">
                  <c:v>4021</c:v>
                </c:pt>
                <c:pt idx="2">
                  <c:v>4006</c:v>
                </c:pt>
                <c:pt idx="3">
                  <c:v>4002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Cases</c:v>
                </c:pt>
              </c:strCache>
            </c:strRef>
          </c:tx>
          <c:spPr>
            <a:solidFill>
              <a:srgbClr val="EF4444"/>
            </a:solidFill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1386</c:v>
                </c:pt>
                <c:pt idx="1">
                  <c:v>1246</c:v>
                </c:pt>
                <c:pt idx="2">
                  <c:v>1360</c:v>
                </c:pt>
                <c:pt idx="3">
                  <c:v>1310</c:v>
                </c:pt>
                <c:pt idx="4">
                  <c:v>1315</c:v>
                </c:pt>
                <c:pt idx="5">
                  <c:v>1347</c:v>
                </c:pt>
                <c:pt idx="6">
                  <c:v>1354</c:v>
                </c:pt>
                <c:pt idx="7">
                  <c:v>1434</c:v>
                </c:pt>
                <c:pt idx="8">
                  <c:v>1275</c:v>
                </c:pt>
                <c:pt idx="9">
                  <c:v>1343</c:v>
                </c:pt>
                <c:pt idx="10">
                  <c:v>1301</c:v>
                </c:pt>
                <c:pt idx="11">
                  <c:v>1396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Legitimate Cases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2802</c:v>
                </c:pt>
                <c:pt idx="1">
                  <c:v>2657</c:v>
                </c:pt>
                <c:pt idx="2">
                  <c:v>2899</c:v>
                </c:pt>
                <c:pt idx="3">
                  <c:v>2796</c:v>
                </c:pt>
                <c:pt idx="4">
                  <c:v>2847</c:v>
                </c:pt>
                <c:pt idx="5">
                  <c:v>2813</c:v>
                </c:pt>
                <c:pt idx="6">
                  <c:v>2859</c:v>
                </c:pt>
                <c:pt idx="7">
                  <c:v>2950</c:v>
                </c:pt>
                <c:pt idx="8">
                  <c:v>2812</c:v>
                </c:pt>
                <c:pt idx="9">
                  <c:v>2821</c:v>
                </c:pt>
                <c:pt idx="10">
                  <c:v>2784</c:v>
                </c:pt>
                <c:pt idx="11">
                  <c:v>2893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 Fraud History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First-Time (90.2%)</c:v>
                </c:pt>
                <c:pt idx="1">
                  <c:v>Repeat Offender (9.8%)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14491</c:v>
                </c:pt>
                <c:pt idx="1">
                  <c:v>1576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FRAUD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16002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 REPORT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50,000 Transactions  •  January – December 2023  •  Global Dataset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3063240"/>
            <a:ext cx="5029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4444"/>
                </a:solidFill>
              </a:rPr>
              <a:t>50,000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Transactions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4444"/>
                </a:solidFill>
              </a:rPr>
              <a:t>32.1%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Fraud 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4444"/>
                </a:solidFill>
              </a:rPr>
              <a:t>16,067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Fraud Cases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4444"/>
                </a:solidFill>
              </a:rPr>
              <a:t>$99.68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2084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Avg Fraud Amt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CONFIDENTIAL  |  Risk &amp; Compliance Division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Key findings at a glance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199339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1993392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07899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</a:rPr>
              <a:t>32.1%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6032" y="175564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Overall Fraud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32304" y="960120"/>
            <a:ext cx="199339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32304" y="960120"/>
            <a:ext cx="1993392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432304" y="107899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16,067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32304" y="175564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Fraudulent Txns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08576" y="960120"/>
            <a:ext cx="199339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960120"/>
            <a:ext cx="1993392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608576" y="107899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</a:rPr>
              <a:t>$99.68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08576" y="175564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Avg Fraud Amount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84848" y="960120"/>
            <a:ext cx="199339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84848" y="960120"/>
            <a:ext cx="199339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784848" y="107899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9.8%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784848" y="175564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With Prior History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542032"/>
            <a:ext cx="8631936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633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297180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Fraud is evenly distributed across ALL transaction types — no single channel is significantly safer.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Tablet transactions have the highest absolute fraud count (5,464), followed by Mobile (5,305) and Laptop (5,298).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Tokyo leads global fraud locations (3,315 cases), followed by New York (3,221) and Sydney (3,194).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Restaurants &amp; Travel are the top two merchant categories targeted by fraudsters.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Only 9.8% of fraud cases had a prior fraud flag — 90% were first-time offenders, making detection harder.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Fraud rate is consistent year-round with a slight peak in August (1,434 cases) and January (1,386 cases).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FRAUD BY TRANSACTION TYPE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Distribution across POS, Bank Transfer, Online &amp; ATM channels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53035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896112"/>
            <a:ext cx="3108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06440" y="896112"/>
            <a:ext cx="64008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5989320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ATM Withdrawal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89320" y="12618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Fraud Rate: 32.5%  |  Cases: 4,046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06440" y="1856232"/>
            <a:ext cx="3108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06440" y="1856232"/>
            <a:ext cx="64008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5989320" y="1892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Online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2221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Fraud Rate: 32.1%  |  Cases: 4,031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06440" y="2816352"/>
            <a:ext cx="3108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06440" y="2816352"/>
            <a:ext cx="64008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3"/>
          <p:cNvSpPr/>
          <p:nvPr/>
        </p:nvSpPr>
        <p:spPr>
          <a:xfrm>
            <a:off x="598932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Bank Transfer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89320" y="31821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Fraud Rate: 32.1%  |  Cases: 3,995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06440" y="3776472"/>
            <a:ext cx="3108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06440" y="3776472"/>
            <a:ext cx="64008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7"/>
          <p:cNvSpPr/>
          <p:nvPr/>
        </p:nvSpPr>
        <p:spPr>
          <a:xfrm>
            <a:off x="5989320" y="3813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POS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89320" y="41422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Fraud Rate: 31.8%  |  Cases: 3,995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⚠ Insight: Fraud rate is nearly identical (~32%) across all transaction types.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FRAUD BY DEVICE TYPE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Mobile, Tablet &amp; Laptop fraud distribution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389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93776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Fraud Rate by Device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937760" y="141732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74920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Tablet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74920" y="1709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32.6% fraud rate — 5,464 cases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74920" y="1947672"/>
            <a:ext cx="356616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8"/>
          <p:cNvSpPr/>
          <p:nvPr/>
        </p:nvSpPr>
        <p:spPr>
          <a:xfrm>
            <a:off x="5074920" y="1947672"/>
            <a:ext cx="3330854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4937760" y="242316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74920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Mobile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74920" y="27157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31.9% fraud rate — 5,305 cases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74920" y="2953512"/>
            <a:ext cx="356616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5074920" y="2953512"/>
            <a:ext cx="3233928" cy="1280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Shape 14"/>
          <p:cNvSpPr/>
          <p:nvPr/>
        </p:nvSpPr>
        <p:spPr>
          <a:xfrm>
            <a:off x="4937760" y="342900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7492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Laptop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74920" y="3721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32.0% fraud rate — 5,298 cases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74920" y="3959352"/>
            <a:ext cx="356616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5074920" y="3959352"/>
            <a:ext cx="3229661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⚠ Insight: Tablets show highest fraud count. Mobile fraud is rising — implement biometric auth.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FRAUD BY GEOGRAPHY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Top cities by fraud case volume — 2023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5486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868680"/>
            <a:ext cx="29260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5989320" y="886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City            Fraud    Rate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1325880"/>
            <a:ext cx="29260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1362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1. Tokyo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362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3,315  (32.9%)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1984248"/>
            <a:ext cx="29260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2020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2. New York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06640" y="2020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3,221  (31.9%)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2642616"/>
            <a:ext cx="29260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2679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3. Sydney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06640" y="2679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3,194  (32.0%)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3300984"/>
            <a:ext cx="29260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03504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4. London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0664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3,181  (31.9%)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43600" y="3959352"/>
            <a:ext cx="29260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0" y="3995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5. Mumbai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06640" y="3995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3,156  (31.9%)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⚠ Insight: All 5 cities show ~32% fraud rate — fraud is globally distributed, not location-specific.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FRAUD BY MERCHANT CATEGORY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Which sectors are most targeted by fraudulent activity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51206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886968"/>
            <a:ext cx="320040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886968"/>
            <a:ext cx="64008" cy="6949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5852160" y="923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#1  Restaurants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52160" y="12161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3,255 fraud cases  |  32.5% rate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1673352"/>
            <a:ext cx="320040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1673352"/>
            <a:ext cx="64008" cy="69494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1709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#2  Travel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52160" y="20025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3,235 fraud cases  |  32.0% rate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0" y="2459736"/>
            <a:ext cx="320040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0" y="2459736"/>
            <a:ext cx="64008" cy="6949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2496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#3  Groceries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2788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3,217 fraud cases  |  32.4% rate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0" y="3246120"/>
            <a:ext cx="320040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669280" y="3246120"/>
            <a:ext cx="64008" cy="6949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7"/>
          <p:cNvSpPr/>
          <p:nvPr/>
        </p:nvSpPr>
        <p:spPr>
          <a:xfrm>
            <a:off x="5852160" y="32826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#4  Clothing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52160" y="35753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3,181 fraud cases  |  31.9% rate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669280" y="4032504"/>
            <a:ext cx="320040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669280" y="4032504"/>
            <a:ext cx="64008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1"/>
          <p:cNvSpPr/>
          <p:nvPr/>
        </p:nvSpPr>
        <p:spPr>
          <a:xfrm>
            <a:off x="5852160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#5  Electronics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852160" y="43616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3,179 fraud cases  |  31.9% rate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⚠ Insight: Restaurants &amp; Travel top the list — high-frequency, often unmonitored transactions.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FRAUD BY CARD TYPE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Visa, Mastercard, Amex &amp; Discover fraud comparison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572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Card Risk Analysis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0" y="1417320"/>
            <a:ext cx="37490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0" y="1417320"/>
            <a:ext cx="64008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1453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Mastercard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40880" y="14538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Fraud Rate: 31.8%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2080" y="1783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4,038 fraud / 12,693 total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0" y="2331720"/>
            <a:ext cx="37490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0" y="2331720"/>
            <a:ext cx="64008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5212080" y="2368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Amex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040880" y="2368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Fraud Rate: 32.4%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12080" y="2697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4,021 fraud / 12,419 total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0" y="3246120"/>
            <a:ext cx="37490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0" y="3246120"/>
            <a:ext cx="64008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Discover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40880" y="3282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Fraud Rate: 32.5%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212080" y="3611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4,006 fraud / 12,328 total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0" y="4160520"/>
            <a:ext cx="37490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029200" y="4160520"/>
            <a:ext cx="64008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5212080" y="4197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Visa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040880" y="4197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Fraud Rate: 31.9%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212080" y="4526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4,002 fraud / 12,560 total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⚠ Insight: Mastercard has highest fraud count; Discover has highest fraud rate (32.5%). All are near equal risk.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MONTHLY FRAUD TREND — 2023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Month-by-month fraud vs. legitimate transaction volume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8595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572000"/>
            <a:ext cx="2743200" cy="4572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4617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🔴 Peak Month: Aug (1,434)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4572000"/>
            <a:ext cx="2743200" cy="4572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37560" y="4617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🔵 Low Month: Feb (1,246)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4572000"/>
            <a:ext cx="2651760" cy="4572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4617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⚠ Variance: 188 cases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FRAUD HISTORY &amp; REPEAT OFFENDERS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Impact of prior fraudulent activity flag on current fraud detection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51760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90.2%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First-Time Fraudsters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 prior flag (14,491 cases)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65176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115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</a:rPr>
              <a:t>9.8%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0040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Repeat Offenders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Had prior history flag (1,576 cases)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960120"/>
            <a:ext cx="265176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115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</a:rPr>
              <a:t>1,576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08076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Flagged &amp; Reoffended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High priority intervention needed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74320" y="269748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4297680" y="2697480"/>
            <a:ext cx="4572000" cy="22860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480560" y="2788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Key Risk Finding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480560" y="3182112"/>
            <a:ext cx="4206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</a:rPr>
              <a:t>90.2% of fraudsters had NO prior fraud flag.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This means traditional blacklist-based detection fails to catch 9 out of 10 fraud attempts.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Organizations must shift to behavioral analytics and anomaly detection rather than relying on history alone.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How to prevent fraud — strategic action plan for your organization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114800" cy="10789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64008" cy="10789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25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01  AI-Powered Real-Time 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Deploy ML models (Random Forest, XGBoost, Neural Nets) trained on behavioral patterns. Rule-based systems fail at 90% first-time fraudsters.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70432"/>
            <a:ext cx="4114800" cy="10789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70432"/>
            <a:ext cx="64008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25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02  Multi-Factor Authentication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Enforce MFA for high-risk channels: online payments, bank transfers, ATM PINs. Add biometric verification on mobile &amp; tablet devices.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404872"/>
            <a:ext cx="4114800" cy="10789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404872"/>
            <a:ext cx="64008" cy="10789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4597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03  Transaction Velocity Monitoring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788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Flag users with Daily_Transaction_Count &gt; 15. Automated holds and step-up verification for unusual velocity spikes.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404872"/>
            <a:ext cx="4114800" cy="10789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04872"/>
            <a:ext cx="64008" cy="10789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4597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04  Merchant-Level Risk Scoring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788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Apply elevated scrutiny to Restaurants and Travel merchants. Tokenize card data at POS to prevent card skimming and replay attacks.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639312"/>
            <a:ext cx="4114800" cy="10789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639312"/>
            <a:ext cx="64008" cy="10789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6941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05  Cross-Channel Fraud Correlation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023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Link suspicious activity across all devices and channels per user. A mobile flag should trigger checks on ATM and online too.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639312"/>
            <a:ext cx="4114800" cy="10789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39312"/>
            <a:ext cx="64008" cy="10789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6941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06  User Behavioral Analytics (UBA)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023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Build baseline profiles for each user. Flag deviations in location, device type, and merchant category as high-risk signals.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73152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1463040"/>
            <a:ext cx="6766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32.1% fraud rate — roughly 1 in 3 transactions is fraudulent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No single weak link: fraud is evenly spread across all channels, devices, card types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90% of fraudsters had no prior history — history-based systems are insufficient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Fraud peaks in August and January — seasonal monitoring is critical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Restaurants &amp; Travel need merchant-specific fraud controls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Action Required: AI detection + MFA + velocity monitoring + UBA deployment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Financial Fraud Analysis Report  •  2023  •  Risk &amp; Compliance Division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Fraud Analysis Report 2023</dc:title>
  <dc:subject>PptxGenJS Presentation</dc:subject>
  <dc:creator>PptxGenJS</dc:creator>
  <cp:lastModifiedBy>PptxGenJS</cp:lastModifiedBy>
  <cp:revision>1</cp:revision>
  <dcterms:created xsi:type="dcterms:W3CDTF">2026-06-06T07:00:09Z</dcterms:created>
  <dcterms:modified xsi:type="dcterms:W3CDTF">2026-06-06T07:00:09Z</dcterms:modified>
</cp:coreProperties>
</file>